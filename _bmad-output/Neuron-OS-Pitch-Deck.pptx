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4873752" cy="27432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46888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51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NEURON 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Digital Operating System for Business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3657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Pre-Seed Investment Deck  |  April 2026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business runs on someone's brain. That doesn't scale.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28600" cy="59436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Slow execution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9202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 of work time spent on "work about work" — only 27% on skilled work (Asana)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228600" cy="59436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walks out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269748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48% of companies lose institutional knowledge with each departure (Gallup)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228600" cy="594360"/>
          </a:xfrm>
          <a:prstGeom prst="rect">
            <a:avLst>
              <a:gd name="adj" fmla="val 20000"/>
            </a:avLst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silos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347472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 lose up to 12 hours/week due to data silos (Sinequa)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51960"/>
            <a:ext cx="228600" cy="594360"/>
          </a:xfrm>
          <a:prstGeom prst="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425196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 of companies make decisions based on stale data (BusinessWire)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228600" cy="59436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Gut-feeling decisions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50292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29% of applications are integrated — incomplete data (MuleSoft)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806440"/>
            <a:ext cx="228600" cy="59436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806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Repetitive 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580644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sales reps spend only 10% of time actually selling (Blogging Wizard)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EXISTING AI DOESN'T SOLVE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AI tool today is an isolated chat window.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37160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762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 doesn't know your business.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37160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620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Copilot helps with one task in isolation.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37160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5478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Jasper writes copy without understanding your strategy.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343400"/>
            <a:ext cx="137160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2336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tool works in a vacuum — no shared context, no memory, no process execution.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137160" cy="1371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919472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time you switch tools, you start from zero.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10698480" cy="822960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88% of SMB leaders feel overwhelmed by too many tools. Average SMB uses 7 apps. Only 29% are integrated.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digital operating system that learns your business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accelerates everything you do.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474720" cy="3017520"/>
          </a:xfrm>
          <a:prstGeom prst="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286000"/>
            <a:ext cx="34747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LEARNS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914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747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Ingests everything about your business — industry, competitors, processes, knowledge base. What takes a new hire 8-26 weeks, Neuron OS absorbs from documents and conversations.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286000"/>
            <a:ext cx="3474720" cy="3017520"/>
          </a:xfrm>
          <a:prstGeom prst="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2286000"/>
            <a:ext cx="34747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THINKS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9144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4747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Proactively identifies opportunities, bottlenecks, and optimizations. Doesn't wait for you to ask — analyzes context and proposes concrete actions.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286000"/>
            <a:ext cx="3474720" cy="3017520"/>
          </a:xfrm>
          <a:prstGeom prst="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2286000"/>
            <a:ext cx="34747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ACTS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412480" y="3337560"/>
            <a:ext cx="9144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4747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Designs and executes automations through n8n — 400+ integrations. The owner approves, the agent executes. Human-in-the-loop at every critical decision.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669280"/>
            <a:ext cx="10698480" cy="73152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"Zapier and n8n are hands without a brain. Copilot and Notion AI are a brain without hands.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Neuron OS is the brain that uses n8n as its hands — with the owner as the controller."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 is the fastest-growing technology market in history.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3474720" cy="1554480"/>
          </a:xfrm>
          <a:prstGeom prst="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Automation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$130B  →  $1.14T (2033)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CAGR 31.4%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3474720" cy="1554480"/>
          </a:xfrm>
          <a:prstGeom prst="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92024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$5.2B  →  $199B (2034)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CAGR 43.8%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474720" cy="1554480"/>
          </a:xfrm>
          <a:prstGeom prst="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057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Automation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$14.5B  →  $44.7B (2030)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27889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CAGR 22.6%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Capital is following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11480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 Signal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Valuation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Cognition (Devin)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$1M → $73M ARR in 9 months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$10.2B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Sierra AI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$26M → $130M ARR in 12 months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$10B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n8n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6x user growth YoY, 200K users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$2.5B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LangChain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1,000+ enterprise customers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$1.25B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8046720" y="4114800"/>
            <a:ext cx="3383280" cy="2103120"/>
          </a:xfrm>
          <a:prstGeom prst="rect">
            <a:avLst>
              <a:gd name="adj" fmla="val 4348"/>
            </a:avLst>
          </a:prstGeom>
          <a:solidFill>
            <a:srgbClr val="EFF6FF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SMB AI Adoption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229600" y="4572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39% → 55%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8229600" y="4937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one year (+41%)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0" y="5303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51-76% don't know how AI fits their business.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#1 barrier isn't money.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It's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brain that learns your business. Hands that execute through 400+ integrations.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943600" cy="1188720"/>
          </a:xfrm>
          <a:prstGeom prst="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11680"/>
            <a:ext cx="73152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Brain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Persistent, evolving model of the entire business. Industry, competitors, processes, knowledge — always learning.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5943600" cy="1188720"/>
          </a:xfrm>
          <a:prstGeom prst="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Proactive Discovery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agents analyze context continuously. Identifies what should be automated. Proposes actions with expected outcomes.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754880"/>
            <a:ext cx="5943600" cy="1188720"/>
          </a:xfrm>
          <a:prstGeom prst="rect">
            <a:avLst>
              <a:gd name="adj" fmla="val 7692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754880"/>
            <a:ext cx="73152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n8n Execution Layer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designs workflows automatically. 400+ integrations. Approval gates at every critical step. Catalog grows with every client.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011680"/>
            <a:ext cx="4480560" cy="4114800"/>
          </a:xfrm>
          <a:prstGeom prst="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BUILT-IN STARTER PROCESSES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2560320"/>
            <a:ext cx="914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7432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Discovery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and qualifies potential clients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0" y="3383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8952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Blog, social media, newsletters, brochures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4023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Competitor 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4297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Tracks competition, alerts on changes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Onboarding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Standardizes new client intake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5303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8952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5577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weekly/monthly reports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zero to first VIP project in 2 months — with 120 EUR in AI costs.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303520" cy="914400"/>
          </a:xfrm>
          <a:prstGeom prst="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LUXURY STATUES ADRIA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employees + partner network. Collaborates with architects and developers to bring unique monumental artworks to hotels and private villas.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914400"/>
          </a:xfrm>
          <a:prstGeom prst="rect">
            <a:avLst>
              <a:gd name="adj" fmla="val 10000"/>
            </a:avLst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103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Co-founder's own business. Neuron OS was born from a real problem, not a hypothesis.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3474720" cy="1645920"/>
          </a:xfrm>
          <a:prstGeom prst="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08960"/>
            <a:ext cx="3474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WEEKS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Setup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materials, processes, procurement, pricing, brochures, web, messaging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3474720" cy="1645920"/>
          </a:xfrm>
          <a:prstGeom prst="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310896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+1 MONTH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architecture firms signed collaboration agreements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0" y="3108960"/>
            <a:ext cx="3474720" cy="1645920"/>
          </a:xfrm>
          <a:prstGeom prst="rect">
            <a:avLst>
              <a:gd name="adj" fmla="val 5556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3108960"/>
            <a:ext cx="3474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+2 WEEKS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3611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Project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0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project for a VIP client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5029200"/>
          <a:ext cx="10698480" cy="91440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Without Neuron OS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With Neuron OS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Months of setup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 weeks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6+ months to revenue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~2 months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10,000+ EUR (consultants)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120 EUR (AI)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Nobody proactively suggests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Brain works non-stop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revenue streams. High margins. Strong lock-in.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92608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Setup fee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Free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1,000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2,000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Monthly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299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799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2,499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ACV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3,588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10,588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31,988 EUR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Users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Up to 10 + RBAC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Unlimited + SSO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Processes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from catalog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+ buy more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Full catalog + updates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 dev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—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 EUR/hr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125 EUR/hr (priority)</a:t>
                      </a:r>
                      <a:endParaRPr lang="en-US" sz="11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Blended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~400-600 EUR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Blended ACV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~6,000 EUR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LTV:CAC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747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8-12x (24mo retention)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47472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65-80%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74720" y="5852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 3 months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6172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474720" y="6172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~50-60 clients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49440" y="4206240"/>
            <a:ext cx="448056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0" y="4297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FLYWHEEL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32320" y="46634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new client generates custom process requests.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custom process becomes a catalog item.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larger catalog makes the product more valuable for the next client.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product gets better and cheaper to deliver with every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only platform that learns, thinks, and acts — for the whole business.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828800"/>
                <a:gridCol w="1645920"/>
                <a:gridCol w="173736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Capability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Zapier/n8n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Relevance/Lindy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MS Copilot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Agentforce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40A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Neuron OS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Learns your business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Partial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CRM only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FULL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Proactively suggests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Partial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Cross-platform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Human-in-the-loop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Manual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Partial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Partial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End user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Tech builds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Tech builds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Limited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Expensive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Owner approves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COMPETITORS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4251960"/>
            <a:ext cx="109728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206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Zapier ($5B)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Trigger-action. You design everything.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663440"/>
            <a:ext cx="109728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4617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($2.5B)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use n8n as infrastructure, not competition.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5074920"/>
            <a:ext cx="109728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Relevance AI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0" y="5029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Closest competitor — still manual agent creation.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5486400"/>
            <a:ext cx="10972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54406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MS Copilot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0" y="5440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Locked in M365. No business model awareness.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5897880"/>
            <a:ext cx="109728" cy="2286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8"/>
          <p:cNvSpPr/>
          <p:nvPr/>
        </p:nvSpPr>
        <p:spPr>
          <a:xfrm>
            <a:off x="1005840" y="5852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Salesforce Agentforce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0" y="5852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only. $125-550/user/mo.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31520" y="5943600"/>
            <a:ext cx="10698480" cy="640080"/>
          </a:xfrm>
          <a:prstGeom prst="rect">
            <a:avLst>
              <a:gd name="adj" fmla="val 14286"/>
            </a:avLst>
          </a:prstGeom>
          <a:solidFill>
            <a:srgbClr val="1E40AF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raised $313M to build the best workflow engine. We don't compete — we use it. Their 400+ integrations become ours.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0"/>
            <a:ext cx="1069848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1945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M1-2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737360" cy="2286000"/>
          </a:xfrm>
          <a:prstGeom prst="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51760"/>
            <a:ext cx="1737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88920"/>
            <a:ext cx="1554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Production-ready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n8n integration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starter processes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3-5 pilot clients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M3-4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2651760"/>
            <a:ext cx="1737360" cy="2286000"/>
          </a:xfrm>
          <a:prstGeom prst="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2651760"/>
            <a:ext cx="1737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2788920"/>
            <a:ext cx="1554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&lt; 48h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10-15 processes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Proactive discovery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Self-serve onboarding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M5-6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651760"/>
            <a:ext cx="1737360" cy="2286000"/>
          </a:xfrm>
          <a:prstGeom prst="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2651760"/>
            <a:ext cx="1737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2788920"/>
            <a:ext cx="1554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 launch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15-20 clients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SDR active (USA)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marketing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19456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M7-12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55080" y="2651760"/>
            <a:ext cx="1737360" cy="2286000"/>
          </a:xfrm>
          <a:prstGeom prst="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5080" y="2651760"/>
            <a:ext cx="17373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2788920"/>
            <a:ext cx="1554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50-60 clients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30-40 processes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 engineers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69680" y="219456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 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2651760"/>
            <a:ext cx="1737360" cy="2286000"/>
          </a:xfrm>
          <a:prstGeom prst="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229600" y="2651760"/>
            <a:ext cx="173736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2788920"/>
            <a:ext cx="1554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150-200 clients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80+ processes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 packs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program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744200" y="2194560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1010412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10412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104120" y="2651760"/>
            <a:ext cx="1737360" cy="2286000"/>
          </a:xfrm>
          <a:prstGeom prst="rect">
            <a:avLst>
              <a:gd name="adj" fmla="val 5263"/>
            </a:avLst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04120" y="2651760"/>
            <a:ext cx="173736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10195560" y="2788920"/>
            <a:ext cx="1554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500+ clients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AI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API-first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1520" y="5212080"/>
            <a:ext cx="10698480" cy="1280160"/>
          </a:xfrm>
          <a:prstGeom prst="rect">
            <a:avLst>
              <a:gd name="adj" fmla="val 7143"/>
            </a:avLst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4400" y="5623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6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1440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20+ clients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4400" y="6126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$10-15K MRR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66160" y="5623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 12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6616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50-60 clients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566160" y="6126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$30-40K MRR • Break-even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17920" y="5623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1792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150-200 clients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217920" y="6126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$150-200K MRR • Series 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869680" y="5623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86968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500+ clients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869680" y="6126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$500K+ MRR • Profitable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FOUNDING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technical co-founders who built the product because they needed it.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120640" cy="2560320"/>
          </a:xfrm>
          <a:prstGeom prst="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011680"/>
            <a:ext cx="5120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VOJIN RAKONJAC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Co-Founder &amp; 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880360"/>
            <a:ext cx="9144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15+ years in the technology industry. Full career path from engineer to VP at a global technology company — engineering, product management, head of delivery, VP of division.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Builds the Neuron OS architecture and leads all development.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5212080" cy="2560320"/>
          </a:xfrm>
          <a:prstGeom prst="rect">
            <a:avLst>
              <a:gd name="adj" fmla="val 3571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2011680"/>
            <a:ext cx="52120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DEJAN CUSIC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Co-Founder &amp; CEO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9144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017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20+ years of executive experience. MBA lecturer at RDS University Belgrade on AI impact on business. Combines academic AI knowledge with practical leadership.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Leads strategy, pilot clients, and investor relations.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212080"/>
            <a:ext cx="731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together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486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Dejan was Vojin's manager for years. Proven collaboration.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5212080"/>
            <a:ext cx="73152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70332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Complementary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5486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technical, both business. Dejan: MBA. Vojin: eng-to-exec.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5212080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Born from need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486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built for a real business problem, not theory.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98280" y="5212080"/>
            <a:ext cx="73152" cy="109728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9" name="Text 27"/>
          <p:cNvSpPr/>
          <p:nvPr/>
        </p:nvSpPr>
        <p:spPr>
          <a:xfrm>
            <a:off x="9281160" y="5212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commitment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81160" y="54864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12+ months unpaid (240-450K EUR forgone). Equity-driven.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10698480" cy="1051560"/>
          </a:xfrm>
          <a:prstGeom prst="rect">
            <a:avLst>
              <a:gd name="adj" fmla="val 8696"/>
            </a:avLst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73152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Contextual Accelerator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600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 learns your business. Executes through n8n. Human-in-the-loop. 5 starter processes + growing catalog.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698480" cy="1051560"/>
          </a:xfrm>
          <a:prstGeom prst="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97480"/>
            <a:ext cx="7315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 1-2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Proactive Operating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Brain discovers what to automate. 50+ workflows. Industry knowledge packs. Multi-department context.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0698480" cy="1051560"/>
          </a:xfrm>
          <a:prstGeom prst="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931920"/>
            <a:ext cx="73152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Business 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069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Predictive analytics. Cross-tenant insights. Autonomous routine decisions within defined boundaries. API-first.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5166360"/>
            <a:ext cx="10698480" cy="1051560"/>
          </a:xfrm>
          <a:prstGeom prst="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166360"/>
            <a:ext cx="73152" cy="10515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257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YEAR 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5623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Standard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53035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 for third-party processes. Other products integrate WITH us. The Salesforce of business operations AI.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760720"/>
            <a:ext cx="10698480" cy="731520"/>
          </a:xfrm>
          <a:prstGeom prst="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"In 5 years, the question won't be 'do you use AI in your business'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it will be 'which OS runs your business.' We are building that OS."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480,000 EUR pre-seed to take Neuron OS from MVP to break-even in 12 months.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5120640" cy="2377440"/>
          </a:xfrm>
          <a:prstGeom prst="rect">
            <a:avLst>
              <a:gd name="adj" fmla="val 3846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20240"/>
            <a:ext cx="51206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(post-money)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24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Valuation cap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724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3.5-4M EUR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026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480,000 EUR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 ticket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3630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40,000 EUR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93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~10-12%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5212080" cy="2377440"/>
          </a:xfrm>
          <a:prstGeom prst="rect">
            <a:avLst>
              <a:gd name="adj" fmla="val 3846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920240"/>
            <a:ext cx="52120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057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2724912"/>
            <a:ext cx="2551176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development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300,000 EUR (62%)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182112"/>
            <a:ext cx="699516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926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infrastructure (GPU)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80,000 EUR (17%)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639312"/>
            <a:ext cx="61722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3383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70,000 EUR (15%)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4096512"/>
            <a:ext cx="246888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840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Buffer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30,000 EUR (6%)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INVESTMENT DELIVERS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4937760"/>
            <a:ext cx="2560320" cy="109728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93776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 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8680" y="5349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Production-ready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n8n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520440" y="4937760"/>
            <a:ext cx="2560320" cy="109728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3520440" y="493776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 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0" y="5349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20+ paying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937760"/>
            <a:ext cx="2560320" cy="109728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46" name="Shape 44"/>
          <p:cNvSpPr/>
          <p:nvPr/>
        </p:nvSpPr>
        <p:spPr>
          <a:xfrm>
            <a:off x="6309360" y="4937760"/>
            <a:ext cx="25603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 10-14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46520" y="5349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Break-even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50-60 clients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098280" y="4937760"/>
            <a:ext cx="2560320" cy="1097280"/>
          </a:xfrm>
          <a:prstGeom prst="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9098280" y="4937760"/>
            <a:ext cx="25603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1" name="Text 49"/>
          <p:cNvSpPr/>
          <p:nvPr/>
        </p:nvSpPr>
        <p:spPr>
          <a:xfrm>
            <a:off x="9235440" y="502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 12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235440" y="5349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Seed-ready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$30-40K MRR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founders invested 12+ months unpaid to build a working product. First client: zero to VIP project in 2 months for 120 EUR. The product works. The market is exploding. We need capital to scale.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228600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500" kern="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NEURON 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Digital Operating System for Business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42062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47548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Vojin Rakonjac  |  Co-Founder &amp; CTO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Dejan Cusic  |  Co-Founder &amp; CEO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5669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[email]  |  [phone]  |  [website]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6400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2026-04-01T13:34:49Z</dcterms:created>
  <dcterms:modified xsi:type="dcterms:W3CDTF">2026-04-01T13:34:49Z</dcterms:modified>
</cp:coreProperties>
</file>